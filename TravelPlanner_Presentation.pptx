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322260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274320"/>
            <a:ext cx="2926080" cy="2926080"/>
          </a:xfrm>
          <a:prstGeom prst="roundRect">
            <a:avLst>
              <a:gd name="adj" fmla="val 12500"/>
            </a:avLst>
          </a:prstGeom>
          <a:solidFill>
            <a:srgbClr val="0D7377">
              <a:alpha val="25000"/>
            </a:srgbClr>
          </a:solidFill>
          <a:ln w="12700">
            <a:solidFill>
              <a:srgbClr val="0D7377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7315200" y="182880"/>
            <a:ext cx="2011680" cy="2011680"/>
          </a:xfrm>
          <a:prstGeom prst="roundRect">
            <a:avLst>
              <a:gd name="adj" fmla="val 18182"/>
            </a:avLst>
          </a:prstGeom>
          <a:solidFill>
            <a:srgbClr val="14A085">
              <a:alpha val="20000"/>
            </a:srgbClr>
          </a:solidFill>
          <a:ln w="12700">
            <a:solidFill>
              <a:srgbClr val="14A08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Shape 2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0D7377">
              <a:alpha val="40000"/>
            </a:srgbClr>
          </a:solidFill>
          <a:ln w="12700">
            <a:solidFill>
              <a:srgbClr val="0D7377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57200"/>
            <a:ext cx="731520" cy="731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137160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Planner - </a:t>
            </a:r>
            <a:r>
              <a:rPr lang="en-US" sz="5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Spotr</a:t>
            </a:r>
            <a:endParaRPr lang="en-US" sz="5400" dirty="0"/>
          </a:p>
        </p:txBody>
      </p:sp>
      <p:sp>
        <p:nvSpPr>
          <p:cNvPr id="7" name="Text 4"/>
          <p:cNvSpPr/>
          <p:nvPr/>
        </p:nvSpPr>
        <p:spPr>
          <a:xfrm>
            <a:off x="457200" y="2606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3AAF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 places. Build your trip.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Pablo Cervera Moreno  ·  Diego Perez Cuno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160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D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Solving — Politechnika Krakowska  ·  2025/2026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2697480" cy="3383280"/>
          </a:xfrm>
          <a:prstGeom prst="roundRect">
            <a:avLst>
              <a:gd name="adj" fmla="val 4068"/>
            </a:avLst>
          </a:prstGeom>
          <a:solidFill>
            <a:srgbClr val="FFFFFF"/>
          </a:solidFill>
          <a:ln w="9525">
            <a:solidFill>
              <a:srgbClr val="D0DCE8"/>
            </a:solidFill>
            <a:prstDash val="solid"/>
          </a:ln>
          <a:effectLst>
            <a:outerShdw blurRad="101600" dist="381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7320" y="1325880"/>
            <a:ext cx="50292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192024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Scattered research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457200" y="2377440"/>
            <a:ext cx="24231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Tourists bounce between Google, TripAdvisor, and maps — no single tool for discovery.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200400" y="1143000"/>
            <a:ext cx="2697480" cy="3383280"/>
          </a:xfrm>
          <a:prstGeom prst="roundRect">
            <a:avLst>
              <a:gd name="adj" fmla="val 4068"/>
            </a:avLst>
          </a:prstGeom>
          <a:solidFill>
            <a:srgbClr val="FFFFFF"/>
          </a:solidFill>
          <a:ln w="9525">
            <a:solidFill>
              <a:srgbClr val="D0DCE8"/>
            </a:solidFill>
            <a:prstDash val="solid"/>
          </a:ln>
          <a:effectLst>
            <a:outerShdw blurRad="101600" dist="381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80" y="1325880"/>
            <a:ext cx="502920" cy="5029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337560" y="192024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trade-offs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3337560" y="2377440"/>
            <a:ext cx="24231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APIs (e.g. OpenTripMap) require an API key and return limited metadata — friction for a zero-setup app.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080760" y="1143000"/>
            <a:ext cx="2697480" cy="3383280"/>
          </a:xfrm>
          <a:prstGeom prst="roundRect">
            <a:avLst>
              <a:gd name="adj" fmla="val 4068"/>
            </a:avLst>
          </a:prstGeom>
          <a:solidFill>
            <a:srgbClr val="FFFFFF"/>
          </a:solidFill>
          <a:ln w="9525">
            <a:solidFill>
              <a:srgbClr val="D0DCE8"/>
            </a:solidFill>
            <a:prstDash val="solid"/>
          </a:ln>
          <a:effectLst>
            <a:outerShdw blurRad="101600" dist="381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8040" y="1325880"/>
            <a:ext cx="502920" cy="5029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217920" y="192024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personal list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6217920" y="2377440"/>
            <a:ext cx="24231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lightweight way to curate a shortlist of places without creating an account.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Solution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i="1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zero-setup, fully client-side Travel Planner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i="1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100% in the browser.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274320" y="1965960"/>
            <a:ext cx="41605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D0DCE8"/>
            </a:solidFill>
            <a:prstDash val="solid"/>
          </a:ln>
          <a:effectLst>
            <a:outerShdw blurRad="101600" dist="381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423160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60120" y="2075688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 search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960120" y="2423160"/>
            <a:ext cx="33375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any city → instant tourist attraction results via Nominatim + Overpass API (OSM).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754880" y="1965960"/>
            <a:ext cx="41605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D0DCE8"/>
            </a:solidFill>
            <a:prstDash val="solid"/>
          </a:ln>
          <a:effectLst>
            <a:outerShdw blurRad="101600" dist="381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242316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440680" y="2075688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&amp; Sort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5440680" y="2423160"/>
            <a:ext cx="33375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by 8 categories (Museums, Nature, Historic…) and sort A→Z without extra API calls.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274320" y="3520440"/>
            <a:ext cx="41605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D0DCE8"/>
            </a:solidFill>
            <a:prstDash val="solid"/>
          </a:ln>
          <a:effectLst>
            <a:outerShdw blurRad="101600" dist="381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3977640"/>
            <a:ext cx="411480" cy="4114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60120" y="3630168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 List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960120" y="3977640"/>
            <a:ext cx="33375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favourite places in a persistent list (LocalStorage) — survives page reloads.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4754880" y="3520440"/>
            <a:ext cx="41605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D0DCE8"/>
            </a:solidFill>
            <a:prstDash val="solid"/>
          </a:ln>
          <a:effectLst>
            <a:outerShdw blurRad="101600" dist="381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977640"/>
            <a:ext cx="411480" cy="41148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5440680" y="3630168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Places</a:t>
            </a:r>
            <a:endParaRPr lang="en-US" sz="1300" dirty="0"/>
          </a:p>
        </p:txBody>
      </p:sp>
      <p:sp>
        <p:nvSpPr>
          <p:cNvPr id="20" name="Text 14"/>
          <p:cNvSpPr/>
          <p:nvPr/>
        </p:nvSpPr>
        <p:spPr>
          <a:xfrm>
            <a:off x="5440680" y="3977640"/>
            <a:ext cx="33375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any location manually with name, category and city via a validated form.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Architecture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1097280"/>
            <a:ext cx="3840480" cy="374904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9525">
            <a:solidFill>
              <a:srgbClr val="D0DCE8"/>
            </a:solidFill>
            <a:prstDash val="solid"/>
          </a:ln>
          <a:effectLst>
            <a:outerShdw blurRad="101600" dist="381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" name="Text 3"/>
          <p:cNvSpPr/>
          <p:nvPr/>
        </p:nvSpPr>
        <p:spPr>
          <a:xfrm>
            <a:off x="41148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11480" y="1691640"/>
            <a:ext cx="3566160" cy="475488"/>
          </a:xfrm>
          <a:prstGeom prst="roundRect">
            <a:avLst>
              <a:gd name="adj" fmla="val 9615"/>
            </a:avLst>
          </a:prstGeom>
          <a:solidFill>
            <a:srgbClr val="E8EEF4"/>
          </a:solidFill>
          <a:ln w="635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548640" y="173736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/ CSS / JS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148840" y="17373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D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front-end, no framework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11480" y="2286000"/>
            <a:ext cx="356616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635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548640" y="233172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Nominatim (OSM)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148840" y="233172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D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 geocoding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11480" y="2880360"/>
            <a:ext cx="3566160" cy="475488"/>
          </a:xfrm>
          <a:prstGeom prst="roundRect">
            <a:avLst>
              <a:gd name="adj" fmla="val 9615"/>
            </a:avLst>
          </a:prstGeom>
          <a:solidFill>
            <a:srgbClr val="E8EEF4"/>
          </a:solidFill>
          <a:ln w="635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548640" y="29260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Overpass API (OSM)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148840" y="292608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D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 data retrieval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11480" y="3474720"/>
            <a:ext cx="356616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635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548640" y="352044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LocalStorage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148840" y="352044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D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 list + 10-min cache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4069080"/>
            <a:ext cx="3566160" cy="475488"/>
          </a:xfrm>
          <a:prstGeom prst="roundRect">
            <a:avLst>
              <a:gd name="adj" fmla="val 9615"/>
            </a:avLst>
          </a:prstGeom>
          <a:solidFill>
            <a:srgbClr val="E8EEF4"/>
          </a:solidFill>
          <a:ln w="6350">
            <a:solidFill>
              <a:srgbClr val="D0DCE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9" name="Text 17"/>
          <p:cNvSpPr/>
          <p:nvPr/>
        </p:nvSpPr>
        <p:spPr>
          <a:xfrm>
            <a:off x="548640" y="411480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Pages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148840" y="411480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D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hosting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343400" y="1097280"/>
            <a:ext cx="4526280" cy="374904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9525">
            <a:solidFill>
              <a:srgbClr val="D0DCE8"/>
            </a:solidFill>
            <a:prstDash val="solid"/>
          </a:ln>
          <a:effectLst>
            <a:outerShdw blurRad="101600" dist="381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2" name="Text 20"/>
          <p:cNvSpPr/>
          <p:nvPr/>
        </p:nvSpPr>
        <p:spPr>
          <a:xfrm>
            <a:off x="4480560" y="1188720"/>
            <a:ext cx="4251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Flow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480560" y="1737360"/>
            <a:ext cx="411480" cy="411480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4" name="Text 22"/>
          <p:cNvSpPr/>
          <p:nvPr/>
        </p:nvSpPr>
        <p:spPr>
          <a:xfrm>
            <a:off x="4480560" y="17556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983480" y="169164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types city name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645152" y="2148840"/>
            <a:ext cx="18288" cy="109728"/>
          </a:xfrm>
          <a:prstGeom prst="rect">
            <a:avLst/>
          </a:prstGeom>
          <a:solidFill>
            <a:srgbClr val="8DA5B8"/>
          </a:solidFill>
          <a:ln w="12700">
            <a:solidFill>
              <a:srgbClr val="8DA5B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7" name="Shape 25"/>
          <p:cNvSpPr/>
          <p:nvPr/>
        </p:nvSpPr>
        <p:spPr>
          <a:xfrm>
            <a:off x="4480560" y="2267712"/>
            <a:ext cx="411480" cy="411480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8" name="Text 26"/>
          <p:cNvSpPr/>
          <p:nvPr/>
        </p:nvSpPr>
        <p:spPr>
          <a:xfrm>
            <a:off x="4480560" y="22860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983480" y="2221992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geocodeCity() → Nominatim → coordinates + bounding box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645152" y="2679192"/>
            <a:ext cx="18288" cy="109728"/>
          </a:xfrm>
          <a:prstGeom prst="rect">
            <a:avLst/>
          </a:prstGeom>
          <a:solidFill>
            <a:srgbClr val="8DA5B8"/>
          </a:solidFill>
          <a:ln w="12700">
            <a:solidFill>
              <a:srgbClr val="8DA5B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1" name="Shape 29"/>
          <p:cNvSpPr/>
          <p:nvPr/>
        </p:nvSpPr>
        <p:spPr>
          <a:xfrm>
            <a:off x="4480560" y="2798064"/>
            <a:ext cx="411480" cy="411480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2" name="Text 30"/>
          <p:cNvSpPr/>
          <p:nvPr/>
        </p:nvSpPr>
        <p:spPr>
          <a:xfrm>
            <a:off x="4480560" y="2816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983480" y="275234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fetchPlaces() → Overpass API → raw OSM nodes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645152" y="3209544"/>
            <a:ext cx="18288" cy="109728"/>
          </a:xfrm>
          <a:prstGeom prst="rect">
            <a:avLst/>
          </a:prstGeom>
          <a:solidFill>
            <a:srgbClr val="8DA5B8"/>
          </a:solidFill>
          <a:ln w="12700">
            <a:solidFill>
              <a:srgbClr val="8DA5B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5" name="Shape 33"/>
          <p:cNvSpPr/>
          <p:nvPr/>
        </p:nvSpPr>
        <p:spPr>
          <a:xfrm>
            <a:off x="4480560" y="3328416"/>
            <a:ext cx="411480" cy="411480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6" name="Text 34"/>
          <p:cNvSpPr/>
          <p:nvPr/>
        </p:nvSpPr>
        <p:spPr>
          <a:xfrm>
            <a:off x="4480560" y="334670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4983480" y="3282696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Normalise → allResults[]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645152" y="3739896"/>
            <a:ext cx="18288" cy="109728"/>
          </a:xfrm>
          <a:prstGeom prst="rect">
            <a:avLst/>
          </a:prstGeom>
          <a:solidFill>
            <a:srgbClr val="8DA5B8"/>
          </a:solidFill>
          <a:ln w="12700">
            <a:solidFill>
              <a:srgbClr val="8DA5B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9" name="Shape 37"/>
          <p:cNvSpPr/>
          <p:nvPr/>
        </p:nvSpPr>
        <p:spPr>
          <a:xfrm>
            <a:off x="4480560" y="3858768"/>
            <a:ext cx="411480" cy="411480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0" name="Text 38"/>
          <p:cNvSpPr/>
          <p:nvPr/>
        </p:nvSpPr>
        <p:spPr>
          <a:xfrm>
            <a:off x="4480560" y="387705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4983480" y="3813048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applyFilters() → render cards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645152" y="4270248"/>
            <a:ext cx="18288" cy="109728"/>
          </a:xfrm>
          <a:prstGeom prst="rect">
            <a:avLst/>
          </a:prstGeom>
          <a:solidFill>
            <a:srgbClr val="8DA5B8"/>
          </a:solidFill>
          <a:ln w="12700">
            <a:solidFill>
              <a:srgbClr val="8DA5B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3" name="Shape 41"/>
          <p:cNvSpPr/>
          <p:nvPr/>
        </p:nvSpPr>
        <p:spPr>
          <a:xfrm>
            <a:off x="4480560" y="4389120"/>
            <a:ext cx="411480" cy="411480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4" name="Text 42"/>
          <p:cNvSpPr/>
          <p:nvPr/>
        </p:nvSpPr>
        <p:spPr>
          <a:xfrm>
            <a:off x="4480560" y="440740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4983480" y="434340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result in LocalStorage (TTL 10 min)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Design Decisions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1097280"/>
            <a:ext cx="859536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D0DCE8"/>
            </a:solidFill>
            <a:prstDash val="solid"/>
          </a:ln>
          <a:effectLst>
            <a:outerShdw blurRad="101600" dist="381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" name="Shape 3"/>
          <p:cNvSpPr/>
          <p:nvPr/>
        </p:nvSpPr>
        <p:spPr>
          <a:xfrm>
            <a:off x="457200" y="1298448"/>
            <a:ext cx="384048" cy="384048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457200" y="1298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60120" y="114300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 Overpass API over OpenTripMap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60120" y="146304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D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OpenTripMap requires an API key even on its free tier, adding configuration friction. Overpass (OSM) needs no registration and returns richer metadata: opening hours, phone, website, Wikipedia links.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4320" y="2057400"/>
            <a:ext cx="8595360" cy="822960"/>
          </a:xfrm>
          <a:prstGeom prst="roundRect">
            <a:avLst>
              <a:gd name="adj" fmla="val 13333"/>
            </a:avLst>
          </a:prstGeom>
          <a:solidFill>
            <a:srgbClr val="F4F8FB"/>
          </a:solidFill>
          <a:ln w="9525">
            <a:solidFill>
              <a:srgbClr val="D0DCE8"/>
            </a:solidFill>
            <a:prstDash val="solid"/>
          </a:ln>
          <a:effectLst>
            <a:outerShdw blurRad="101600" dist="381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" name="Shape 8"/>
          <p:cNvSpPr/>
          <p:nvPr/>
        </p:nvSpPr>
        <p:spPr>
          <a:xfrm>
            <a:off x="457200" y="2258568"/>
            <a:ext cx="384048" cy="384048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457200" y="2258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60120" y="21031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Client-side filtering — zero extra API calls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242316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D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load fetches up to 80 nodes across all categories. Category changes run FILTER_MATCHERS predicates on allResults[] in memory — instant feedback, no network round-trip.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74320" y="3017520"/>
            <a:ext cx="859536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D0DCE8"/>
            </a:solidFill>
            <a:prstDash val="solid"/>
          </a:ln>
          <a:effectLst>
            <a:outerShdw blurRad="101600" dist="381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5" name="Shape 13"/>
          <p:cNvSpPr/>
          <p:nvPr/>
        </p:nvSpPr>
        <p:spPr>
          <a:xfrm>
            <a:off x="457200" y="3218688"/>
            <a:ext cx="384048" cy="384048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457200" y="3218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60120" y="30632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LocalStorage cache with 10-minute TTL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60120" y="33832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D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key: tp_cache_&lt;city&gt;_&lt;category&gt;. Avoids hammering the Overpass API on repeated searches. Silently ignores write failures (quota / private mode).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74320" y="3977640"/>
            <a:ext cx="8595360" cy="822960"/>
          </a:xfrm>
          <a:prstGeom prst="roundRect">
            <a:avLst>
              <a:gd name="adj" fmla="val 13333"/>
            </a:avLst>
          </a:prstGeom>
          <a:solidFill>
            <a:srgbClr val="F4F8FB"/>
          </a:solidFill>
          <a:ln w="9525">
            <a:solidFill>
              <a:srgbClr val="D0DCE8"/>
            </a:solidFill>
            <a:prstDash val="solid"/>
          </a:ln>
          <a:effectLst>
            <a:outerShdw blurRad="101600" dist="381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0" name="Shape 18"/>
          <p:cNvSpPr/>
          <p:nvPr/>
        </p:nvSpPr>
        <p:spPr>
          <a:xfrm>
            <a:off x="457200" y="4178808"/>
            <a:ext cx="384048" cy="384048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1" name="Text 19"/>
          <p:cNvSpPr/>
          <p:nvPr/>
        </p:nvSpPr>
        <p:spPr>
          <a:xfrm>
            <a:off x="457200" y="4178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60120" y="402336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XSS protection via escHtml()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60120" y="434340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D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API and user data is HTML-escaped before innerHTML insertion, preventing injection attacks from malicious place names in OSM data.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2286000"/>
            <a:ext cx="3200400" cy="3200400"/>
          </a:xfrm>
          <a:prstGeom prst="ellipse">
            <a:avLst/>
          </a:prstGeom>
          <a:solidFill>
            <a:srgbClr val="0D7377">
              <a:alpha val="20000"/>
            </a:srgbClr>
          </a:solidFill>
          <a:ln w="12700">
            <a:solidFill>
              <a:srgbClr val="0D7377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-731520" y="-457200"/>
            <a:ext cx="2560320" cy="2560320"/>
          </a:xfrm>
          <a:prstGeom prst="ellipse">
            <a:avLst/>
          </a:prstGeom>
          <a:solidFill>
            <a:srgbClr val="14A085">
              <a:alpha val="18000"/>
            </a:srgbClr>
          </a:solidFill>
          <a:ln w="12700">
            <a:solidFill>
              <a:srgbClr val="14A085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0" y="640080"/>
            <a:ext cx="1097280" cy="10972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182880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5200" dirty="0"/>
          </a:p>
        </p:txBody>
      </p:sp>
      <p:sp>
        <p:nvSpPr>
          <p:cNvPr id="6" name="Text 3"/>
          <p:cNvSpPr/>
          <p:nvPr/>
        </p:nvSpPr>
        <p:spPr>
          <a:xfrm>
            <a:off x="457200" y="28803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i="1" dirty="0">
                <a:solidFill>
                  <a:srgbClr val="3AAF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pablitocm.github.io/travel-planner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2560320" y="3520440"/>
            <a:ext cx="402336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Search for a city (e.g. Kraków)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Filter by category (Museums)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Open a detail modal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Add a place to the Trip List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Add a custom place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&amp; Conclusions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1097280"/>
            <a:ext cx="4114800" cy="374904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9525">
            <a:solidFill>
              <a:srgbClr val="D0DCE8"/>
            </a:solidFill>
            <a:prstDash val="solid"/>
          </a:ln>
          <a:effectLst>
            <a:outerShdw blurRad="101600" dist="381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737360"/>
            <a:ext cx="320040" cy="320040"/>
          </a:xfrm>
          <a:prstGeom prst="ellipse">
            <a:avLst/>
          </a:prstGeom>
          <a:solidFill>
            <a:srgbClr val="14A085"/>
          </a:solidFill>
          <a:ln w="12700">
            <a:solidFill>
              <a:srgbClr val="14A08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68680" y="169164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unit assertions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68680" y="2039112"/>
            <a:ext cx="3383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D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sortResults, sortTrip, cache (miss/hit/TTL), kindLabel, duplicate guard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926080"/>
            <a:ext cx="320040" cy="320040"/>
          </a:xfrm>
          <a:prstGeom prst="ellipse">
            <a:avLst/>
          </a:prstGeom>
          <a:solidFill>
            <a:srgbClr val="14A085"/>
          </a:solidFill>
          <a:ln w="12700">
            <a:solidFill>
              <a:srgbClr val="14A08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457200" y="29260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68680" y="288036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testing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68680" y="3227832"/>
            <a:ext cx="3383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D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Paris, Madrid, Warsaw, Tokyo — filters, sort, Trip List, custom form, modal, cache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63440" y="1097280"/>
            <a:ext cx="4206240" cy="374904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9525">
            <a:solidFill>
              <a:srgbClr val="D0DCE8"/>
            </a:solidFill>
            <a:prstDash val="solid"/>
          </a:ln>
          <a:effectLst>
            <a:outerShdw blurRad="101600" dist="381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4846320" y="118872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73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846320" y="2151453"/>
            <a:ext cx="256032" cy="256032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7" name="Text 15"/>
          <p:cNvSpPr/>
          <p:nvPr/>
        </p:nvSpPr>
        <p:spPr>
          <a:xfrm>
            <a:off x="4846320" y="215145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193792" y="2078301"/>
            <a:ext cx="3520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5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skills gained: API reliability, state management, data </a:t>
            </a:r>
            <a:r>
              <a:rPr lang="en-US" sz="1050" dirty="0" err="1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normalisation</a:t>
            </a:r>
            <a:r>
              <a:rPr lang="en-US" sz="105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defensive coding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846320" y="3111573"/>
            <a:ext cx="256032" cy="256032"/>
          </a:xfrm>
          <a:prstGeom prst="ellipse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0" name="Text 18"/>
          <p:cNvSpPr/>
          <p:nvPr/>
        </p:nvSpPr>
        <p:spPr>
          <a:xfrm>
            <a:off x="4846320" y="311157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193792" y="3038421"/>
            <a:ext cx="3520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decision: chose Overpass API over OpenTripMap — zero config, no API key, richer metadata out of the box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846320" y="37124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3200400"/>
            <a:ext cx="3657600" cy="3657600"/>
          </a:xfrm>
          <a:prstGeom prst="ellipse">
            <a:avLst/>
          </a:prstGeom>
          <a:solidFill>
            <a:srgbClr val="0D7377">
              <a:alpha val="18000"/>
            </a:srgbClr>
          </a:solidFill>
          <a:ln w="12700">
            <a:solidFill>
              <a:srgbClr val="0D7377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6858000" y="-914400"/>
            <a:ext cx="3200400" cy="3200400"/>
          </a:xfrm>
          <a:prstGeom prst="ellipse">
            <a:avLst/>
          </a:prstGeom>
          <a:solidFill>
            <a:srgbClr val="14A085">
              <a:alpha val="20000"/>
            </a:srgbClr>
          </a:solidFill>
          <a:ln w="12700">
            <a:solidFill>
              <a:srgbClr val="14A085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you!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457200" y="32004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DA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pablitocm.github.io/travel-planner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Pablo Cervera Moreno  ·  Diego Perez Cuno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</TotalTime>
  <Words>580</Words>
  <Application>Microsoft Office PowerPoint</Application>
  <PresentationFormat>Presentación en pantalla (16:9)</PresentationFormat>
  <Paragraphs>91</Paragraphs>
  <Slides>8</Slides>
  <Notes>8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Travel Planner — Problem Solving</dc:title>
  <dc:subject>PptxGenJS Presentation</dc:subject>
  <dc:creator>PptxGenJS</dc:creator>
  <cp:lastModifiedBy>DIEGO PEREZ CUNO</cp:lastModifiedBy>
  <cp:revision>2</cp:revision>
  <dcterms:created xsi:type="dcterms:W3CDTF">2026-06-11T14:57:06Z</dcterms:created>
  <dcterms:modified xsi:type="dcterms:W3CDTF">2026-06-11T16:37:29Z</dcterms:modified>
</cp:coreProperties>
</file>